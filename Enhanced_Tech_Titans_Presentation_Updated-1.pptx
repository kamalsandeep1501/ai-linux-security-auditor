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82" r:id="rId11"/>
    <p:sldId id="283" r:id="rId12"/>
    <p:sldId id="284" r:id="rId13"/>
    <p:sldId id="266" r:id="rId14"/>
    <p:sldId id="269" r:id="rId15"/>
    <p:sldId id="268" r:id="rId16"/>
    <p:sldId id="286" r:id="rId17"/>
    <p:sldId id="287" r:id="rId18"/>
    <p:sldId id="289" r:id="rId19"/>
    <p:sldId id="277" r:id="rId20"/>
    <p:sldId id="290" r:id="rId21"/>
    <p:sldId id="278" r:id="rId22"/>
    <p:sldId id="279" r:id="rId23"/>
    <p:sldId id="272" r:id="rId24"/>
    <p:sldId id="273" r:id="rId25"/>
    <p:sldId id="271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377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7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8816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4 leads the demo. Walk through each step as you perform them live. The Ubuntu container is the audit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2823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3334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408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8102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6507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results page. Show severity counts at top, then individual findings with explanation, impact, and fix command.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2294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Audit History table and explain Resolution Map categories. This answers 'is my security getting better over time?'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0951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linux-security-auditor.vercel.app/dashboard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302540"/>
            <a:ext cx="9144000" cy="118872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3" name="Shape 1"/>
          <p:cNvSpPr/>
          <p:nvPr/>
        </p:nvSpPr>
        <p:spPr>
          <a:xfrm>
            <a:off x="21020" y="4572000"/>
            <a:ext cx="9144000" cy="571500"/>
          </a:xfrm>
          <a:prstGeom prst="rect">
            <a:avLst/>
          </a:prstGeom>
          <a:solidFill>
            <a:srgbClr val="1A2E42"/>
          </a:solidFill>
          <a:ln/>
        </p:spPr>
        <p:txBody>
          <a:bodyPr/>
          <a:lstStyle/>
          <a:p>
            <a:r>
              <a:rPr lang="en-IN" dirty="0">
                <a:latin typeface="MS PGothic" panose="020B0600070205080204" pitchFamily="34" charset="-128"/>
                <a:ea typeface="MS PGothic" panose="020B0600070205080204" pitchFamily="34" charset="-128"/>
              </a:rPr>
              <a:t>                                                        </a:t>
            </a:r>
            <a:r>
              <a:rPr lang="en-IN" dirty="0">
                <a:solidFill>
                  <a:schemeClr val="bg1">
                    <a:lumMod val="95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Tech Titans</a:t>
            </a:r>
            <a:endParaRPr lang="en-IN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51167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3755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kern="0" spc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457200" y="2312276"/>
            <a:ext cx="8229600" cy="750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Hardening Assistant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88578" y="3108960"/>
            <a:ext cx="8098221" cy="4290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Security Auditing · AI-Driven Analysis · Instant Remediation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325880" y="393192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1E3A52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6"/>
          <p:cNvSpPr/>
          <p:nvPr/>
        </p:nvSpPr>
        <p:spPr>
          <a:xfrm>
            <a:off x="1325880" y="39319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51760" y="393192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1E3A52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51760" y="39319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977640" y="393192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1E3A52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77640" y="39319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303520" y="393192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1E3A52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03520" y="39319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629400" y="393192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1E3A52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29400" y="39319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199" y="4554054"/>
            <a:ext cx="8229599" cy="4290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>
              <a:solidFill>
                <a:srgbClr val="8BA3B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100" dirty="0">
              <a:solidFill>
                <a:srgbClr val="8BA3B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100" dirty="0" err="1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KamalSandeep</a:t>
            </a:r>
            <a:r>
              <a:rPr lang="en-US" sz="11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     Aathika V S     </a:t>
            </a:r>
            <a:r>
              <a:rPr lang="en-US" sz="1100" dirty="0" err="1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Nacshatra</a:t>
            </a:r>
            <a:r>
              <a:rPr lang="en-US" sz="11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     Kanimozhi 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Traditional Linux Security Auditing Fails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2743200" cy="256032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087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508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2148840"/>
            <a:ext cx="2514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bash scripts, one server at a time via SSH — audits take hours or days.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246120" y="1325880"/>
            <a:ext cx="2743200" cy="256032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50876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23360" y="1508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Error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383280" y="2148840"/>
            <a:ext cx="2514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 misconfigurations buried in large log files are easy to miss.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172200" y="1325880"/>
            <a:ext cx="2743200" cy="256032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50876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49440" y="1508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309360" y="2148840"/>
            <a:ext cx="2514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something is broken provides no path to a fix — remediation requires separate research.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320040" y="4023360"/>
            <a:ext cx="8503920" cy="77724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16052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51560" y="406908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Benchmarks define hundreds of security rules for Linux servers. Manual compliance verification is unsustainable at scale.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the Linux Hardening Assistant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1965960" cy="301752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325880"/>
            <a:ext cx="594360" cy="594360"/>
          </a:xfrm>
          <a:prstGeom prst="line">
            <a:avLst/>
          </a:prstGeom>
          <a:solidFill>
            <a:srgbClr val="0077A8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202996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6517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3090672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SSH credentials for any Linux server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377440" y="2715768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60320" y="1234440"/>
            <a:ext cx="1965960" cy="301752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325880"/>
            <a:ext cx="594360" cy="594360"/>
          </a:xfrm>
          <a:prstGeom prst="line">
            <a:avLst/>
          </a:prstGeom>
          <a:solidFill>
            <a:srgbClr val="0077A8"/>
          </a:solidFill>
          <a:ln/>
        </p:spPr>
      </p:sp>
      <p:sp>
        <p:nvSpPr>
          <p:cNvPr id="13" name="Text 10"/>
          <p:cNvSpPr/>
          <p:nvPr/>
        </p:nvSpPr>
        <p:spPr>
          <a:xfrm>
            <a:off x="3246120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552" y="2029968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51760" y="26517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2651760" y="3090672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CIS-aligned checks run automatically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526280" y="2715768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709160" y="1234440"/>
            <a:ext cx="1965960" cy="301752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394960" y="1325880"/>
            <a:ext cx="594360" cy="594360"/>
          </a:xfrm>
          <a:prstGeom prst="line">
            <a:avLst/>
          </a:prstGeom>
          <a:solidFill>
            <a:srgbClr val="0077A8"/>
          </a:solidFill>
          <a:ln/>
        </p:spPr>
      </p:sp>
      <p:sp>
        <p:nvSpPr>
          <p:cNvPr id="20" name="Text 16"/>
          <p:cNvSpPr/>
          <p:nvPr/>
        </p:nvSpPr>
        <p:spPr>
          <a:xfrm>
            <a:off x="5394960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2392" y="2029968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800600" y="26517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4800600" y="3090672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AI classifies every finding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675120" y="2715768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858000" y="1234440"/>
            <a:ext cx="1965960" cy="301752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543800" y="1325880"/>
            <a:ext cx="594360" cy="594360"/>
          </a:xfrm>
          <a:prstGeom prst="line">
            <a:avLst/>
          </a:prstGeom>
          <a:solidFill>
            <a:srgbClr val="0077A8"/>
          </a:solidFill>
          <a:ln/>
        </p:spPr>
      </p:sp>
      <p:sp>
        <p:nvSpPr>
          <p:cNvPr id="27" name="Text 22"/>
          <p:cNvSpPr/>
          <p:nvPr/>
        </p:nvSpPr>
        <p:spPr>
          <a:xfrm>
            <a:off x="7543800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1232" y="2029968"/>
            <a:ext cx="502920" cy="5029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949440" y="26517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6949440" y="3090672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shows severity + exact fix commands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411480" y="4370832"/>
            <a:ext cx="1965960" cy="621792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Text 26"/>
          <p:cNvSpPr/>
          <p:nvPr/>
        </p:nvSpPr>
        <p:spPr>
          <a:xfrm>
            <a:off x="411480" y="43891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33" name="Text 27"/>
          <p:cNvSpPr/>
          <p:nvPr/>
        </p:nvSpPr>
        <p:spPr>
          <a:xfrm>
            <a:off x="1325880" y="441655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Checks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2560320" y="4370832"/>
            <a:ext cx="1965960" cy="621792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Text 29"/>
          <p:cNvSpPr/>
          <p:nvPr/>
        </p:nvSpPr>
        <p:spPr>
          <a:xfrm>
            <a:off x="2560320" y="43891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36" name="Text 30"/>
          <p:cNvSpPr/>
          <p:nvPr/>
        </p:nvSpPr>
        <p:spPr>
          <a:xfrm>
            <a:off x="3474720" y="441655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Levels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4709160" y="4370832"/>
            <a:ext cx="1965960" cy="621792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Text 32"/>
          <p:cNvSpPr/>
          <p:nvPr/>
        </p:nvSpPr>
        <p:spPr>
          <a:xfrm>
            <a:off x="4709160" y="43891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200" dirty="0"/>
          </a:p>
        </p:txBody>
      </p:sp>
      <p:sp>
        <p:nvSpPr>
          <p:cNvPr id="39" name="Text 33"/>
          <p:cNvSpPr/>
          <p:nvPr/>
        </p:nvSpPr>
        <p:spPr>
          <a:xfrm>
            <a:off x="5623560" y="441655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6858000" y="4370832"/>
            <a:ext cx="1965960" cy="621792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Text 35"/>
          <p:cNvSpPr/>
          <p:nvPr/>
        </p:nvSpPr>
        <p:spPr>
          <a:xfrm>
            <a:off x="6858000" y="43891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&lt;3s</a:t>
            </a:r>
            <a:endParaRPr lang="en-US" sz="2200" dirty="0"/>
          </a:p>
        </p:txBody>
      </p:sp>
      <p:sp>
        <p:nvSpPr>
          <p:cNvPr id="42" name="Text 36"/>
          <p:cNvSpPr/>
          <p:nvPr/>
        </p:nvSpPr>
        <p:spPr>
          <a:xfrm>
            <a:off x="7772400" y="441655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Speed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Three-Layer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61872"/>
            <a:ext cx="8503920" cy="1051560"/>
          </a:xfrm>
          <a:prstGeom prst="rect">
            <a:avLst/>
          </a:prstGeom>
          <a:solidFill>
            <a:srgbClr val="0077A8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36192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3350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97280" y="17190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Tailwind CSS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931920" y="1399032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for admins. 5 pages: Login, Dashboard, New Audit, Results, History.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34840" y="2313432"/>
            <a:ext cx="0" cy="155448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0040" y="2468880"/>
            <a:ext cx="8503920" cy="1051560"/>
          </a:xfrm>
          <a:prstGeom prst="rect">
            <a:avLst/>
          </a:prstGeom>
          <a:solidFill>
            <a:srgbClr val="006B8F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74320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25420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Layer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097280" y="2926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 3.11)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931920" y="260604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engine. Coordinates SSH, AI analysis, and database storage via service layer.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434840" y="3520440"/>
            <a:ext cx="0" cy="155448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20040" y="3685032"/>
            <a:ext cx="8503920" cy="1051560"/>
          </a:xfrm>
          <a:prstGeom prst="rect">
            <a:avLst/>
          </a:prstGeom>
          <a:solidFill>
            <a:srgbClr val="005C7A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950208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3749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097280" y="41330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on Neon.tech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3931920" y="3813048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all audit results and findings. Supports historical comparison across scans.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051560" y="4069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051560" y="4389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5303520" y="4069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303520" y="43891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UI — 5 Core Pages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303520" y="502920"/>
            <a:ext cx="3520440" cy="434340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0" y="502920"/>
            <a:ext cx="3520440" cy="41148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6" name="Text 4"/>
          <p:cNvSpPr/>
          <p:nvPr/>
        </p:nvSpPr>
        <p:spPr>
          <a:xfrm>
            <a:off x="5349240" y="52120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linux-security-auditor.vercel.app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303520" y="914400"/>
            <a:ext cx="822960" cy="393192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8" name="Shape 6"/>
          <p:cNvSpPr/>
          <p:nvPr/>
        </p:nvSpPr>
        <p:spPr>
          <a:xfrm>
            <a:off x="5303520" y="914400"/>
            <a:ext cx="822960" cy="640080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9601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303520" y="16002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Audit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303520" y="22402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303520" y="28803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263640" y="960120"/>
            <a:ext cx="804672" cy="594360"/>
          </a:xfrm>
          <a:prstGeom prst="rect">
            <a:avLst/>
          </a:prstGeom>
          <a:solidFill>
            <a:srgbClr val="E63946"/>
          </a:solidFill>
          <a:ln/>
          <a:effectLst>
            <a:outerShdw blurRad="50800" dist="127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63640" y="98755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63640" y="126187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7132320" y="960120"/>
            <a:ext cx="804672" cy="594360"/>
          </a:xfrm>
          <a:prstGeom prst="rect">
            <a:avLst/>
          </a:prstGeom>
          <a:solidFill>
            <a:srgbClr val="F4A261"/>
          </a:solidFill>
          <a:ln/>
          <a:effectLst>
            <a:outerShdw blurRad="50800" dist="127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32320" y="98755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132320" y="126187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8001000" y="960120"/>
            <a:ext cx="804672" cy="594360"/>
          </a:xfrm>
          <a:prstGeom prst="rect">
            <a:avLst/>
          </a:prstGeom>
          <a:solidFill>
            <a:srgbClr val="FFD166"/>
          </a:solidFill>
          <a:ln/>
          <a:effectLst>
            <a:outerShdw blurRad="50800" dist="127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001000" y="98755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001000" y="126187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263640" y="16916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FINDINGS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263640" y="1993392"/>
            <a:ext cx="2514600" cy="548640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24" name="Shape 22"/>
          <p:cNvSpPr/>
          <p:nvPr/>
        </p:nvSpPr>
        <p:spPr>
          <a:xfrm>
            <a:off x="6263640" y="1993392"/>
            <a:ext cx="640080" cy="5486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20299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949440" y="202996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Root Login Enabled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63640" y="2615184"/>
            <a:ext cx="2514600" cy="548640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28" name="Shape 26"/>
          <p:cNvSpPr/>
          <p:nvPr/>
        </p:nvSpPr>
        <p:spPr>
          <a:xfrm>
            <a:off x="6263640" y="2615184"/>
            <a:ext cx="640080" cy="5486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2651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949440" y="26517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UFW Firewall Disabled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63640" y="3236976"/>
            <a:ext cx="2514600" cy="548640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32" name="Shape 30"/>
          <p:cNvSpPr/>
          <p:nvPr/>
        </p:nvSpPr>
        <p:spPr>
          <a:xfrm>
            <a:off x="6263640" y="3236976"/>
            <a:ext cx="640080" cy="54864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32735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949440" y="327355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Password Policy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1143000"/>
            <a:ext cx="4846320" cy="667512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43584"/>
            <a:ext cx="384048" cy="384048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960120" y="12070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DashboardPage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960120" y="150876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Overview: severity counts &amp; recent audits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320040" y="1901952"/>
            <a:ext cx="4846320" cy="667512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4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002536"/>
            <a:ext cx="384048" cy="384048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960120" y="1965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NewAuditPage</a:t>
            </a:r>
            <a:endParaRPr lang="en-US" sz="1300" dirty="0"/>
          </a:p>
        </p:txBody>
      </p:sp>
      <p:sp>
        <p:nvSpPr>
          <p:cNvPr id="42" name="Text 38"/>
          <p:cNvSpPr/>
          <p:nvPr/>
        </p:nvSpPr>
        <p:spPr>
          <a:xfrm>
            <a:off x="960120" y="226771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Form: server IP, port, SSH credentials</a:t>
            </a:r>
            <a:endParaRPr lang="en-US" sz="1100" dirty="0"/>
          </a:p>
        </p:txBody>
      </p:sp>
      <p:sp>
        <p:nvSpPr>
          <p:cNvPr id="43" name="Shape 39"/>
          <p:cNvSpPr/>
          <p:nvPr/>
        </p:nvSpPr>
        <p:spPr>
          <a:xfrm>
            <a:off x="320040" y="2660904"/>
            <a:ext cx="4846320" cy="667512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4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761488"/>
            <a:ext cx="384048" cy="384048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960120" y="27249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AuditResults</a:t>
            </a:r>
            <a:endParaRPr lang="en-US" sz="1300" dirty="0"/>
          </a:p>
        </p:txBody>
      </p:sp>
      <p:sp>
        <p:nvSpPr>
          <p:cNvPr id="46" name="Text 41"/>
          <p:cNvSpPr/>
          <p:nvPr/>
        </p:nvSpPr>
        <p:spPr>
          <a:xfrm>
            <a:off x="960120" y="302666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chart, findings, fix commands</a:t>
            </a:r>
            <a:endParaRPr lang="en-US" sz="1100" dirty="0"/>
          </a:p>
        </p:txBody>
      </p:sp>
      <p:sp>
        <p:nvSpPr>
          <p:cNvPr id="47" name="Shape 42"/>
          <p:cNvSpPr/>
          <p:nvPr/>
        </p:nvSpPr>
        <p:spPr>
          <a:xfrm>
            <a:off x="320040" y="3419856"/>
            <a:ext cx="4846320" cy="667512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4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520440"/>
            <a:ext cx="384048" cy="384048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960120" y="34838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AuditHistory</a:t>
            </a:r>
            <a:endParaRPr lang="en-US" sz="1300" dirty="0"/>
          </a:p>
        </p:txBody>
      </p:sp>
      <p:sp>
        <p:nvSpPr>
          <p:cNvPr id="50" name="Text 44"/>
          <p:cNvSpPr/>
          <p:nvPr/>
        </p:nvSpPr>
        <p:spPr>
          <a:xfrm>
            <a:off x="960120" y="378561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past scans for trend analysis</a:t>
            </a:r>
            <a:endParaRPr lang="en-US" sz="1100" dirty="0"/>
          </a:p>
        </p:txBody>
      </p:sp>
      <p:sp>
        <p:nvSpPr>
          <p:cNvPr id="51" name="Shape 45"/>
          <p:cNvSpPr/>
          <p:nvPr/>
        </p:nvSpPr>
        <p:spPr>
          <a:xfrm>
            <a:off x="320040" y="4178808"/>
            <a:ext cx="4846320" cy="667512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5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279392"/>
            <a:ext cx="384048" cy="384048"/>
          </a:xfrm>
          <a:prstGeom prst="rect">
            <a:avLst/>
          </a:prstGeom>
        </p:spPr>
      </p:pic>
      <p:sp>
        <p:nvSpPr>
          <p:cNvPr id="53" name="Text 46"/>
          <p:cNvSpPr/>
          <p:nvPr/>
        </p:nvSpPr>
        <p:spPr>
          <a:xfrm>
            <a:off x="960120" y="42428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LoginPage</a:t>
            </a:r>
            <a:endParaRPr lang="en-US" sz="1300" dirty="0"/>
          </a:p>
        </p:txBody>
      </p:sp>
      <p:sp>
        <p:nvSpPr>
          <p:cNvPr id="54" name="Text 47"/>
          <p:cNvSpPr/>
          <p:nvPr/>
        </p:nvSpPr>
        <p:spPr>
          <a:xfrm>
            <a:off x="960120" y="454456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access only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PERFORMANCE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57971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Optimized for Large Security Reports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61872"/>
            <a:ext cx="4069080" cy="164592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4475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9848" y="14447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Rendering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1975104"/>
            <a:ext cx="3703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terminal output hidden by default. Loads on-demand when user expands — prevents DOM overload on large logs.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663440" y="1261872"/>
            <a:ext cx="4069080" cy="164592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444752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13248" y="14447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Interceptors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892040" y="1975104"/>
            <a:ext cx="3703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responses with missing fields are automatically filled with safe defaults. App never crashes on partial data.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20040" y="3090672"/>
            <a:ext cx="4069080" cy="164592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273552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69848" y="32735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Batching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548640" y="3803904"/>
            <a:ext cx="3703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audit card updates are grouped into single React renders, maintaining 60fps scroll performance.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0672"/>
            <a:ext cx="4069080" cy="164592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273552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13248" y="32735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useAudit Hook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892040" y="3803904"/>
            <a:ext cx="3703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reusable hook centralizes all API calls, loading states, and error handling in one composable function.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457200" y="47365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Service Layer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4069080" cy="283464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6187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19072"/>
            <a:ext cx="594360" cy="29260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1907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" y="17190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/audit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24712" y="19933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security scan on server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432304"/>
            <a:ext cx="594360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432304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4712" y="243230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/audits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24712" y="27066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past audits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145536"/>
            <a:ext cx="594360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145536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4712" y="314553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/audit/{id}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24712" y="34198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full audit with findings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4160520"/>
            <a:ext cx="4069080" cy="77724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4224528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Services: ssh_service.py  ·  audit_service.py  ·  gemini_service.py  ·  database_service.py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1188720"/>
            <a:ext cx="4206240" cy="283464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12618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12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719072"/>
            <a:ext cx="365760" cy="36576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257800" y="17373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table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800600" y="21762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server_ip · audit_date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800600" y="24963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raw_report · severity_counts</a:t>
            </a:r>
            <a:endParaRPr lang="en-US" sz="110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907792"/>
            <a:ext cx="365760" cy="36576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257800" y="29260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table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4800600" y="33649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audit_id (FK) · severity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4800600" y="36850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· explanation · impact · fix_command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4617720" y="4160520"/>
            <a:ext cx="4206240" cy="77724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4270248"/>
            <a:ext cx="365760" cy="36576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257800" y="4224528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Encryption (sslmode=require)  ·  Connection Pool Health Checks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EXECUTION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CIS-Aligned Security Checks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4069080" cy="667512"/>
          </a:xfrm>
          <a:prstGeom prst="rect">
            <a:avLst/>
          </a:prstGeom>
          <a:solidFill>
            <a:srgbClr val="1A2E42"/>
          </a:solidFill>
          <a:ln/>
          <a:effectLst>
            <a:outerShdw blurRad="508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93192" y="1399032"/>
            <a:ext cx="347472" cy="347472"/>
          </a:xfrm>
          <a:prstGeom prst="line">
            <a:avLst/>
          </a:prstGeom>
          <a:solidFill>
            <a:srgbClr val="3D1515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" y="1399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280160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Root Login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5819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root login via SSH disabled?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993392"/>
            <a:ext cx="4069080" cy="667512"/>
          </a:xfrm>
          <a:prstGeom prst="rect">
            <a:avLst/>
          </a:prstGeom>
          <a:solidFill>
            <a:srgbClr val="1A2E42"/>
          </a:solidFill>
          <a:ln/>
          <a:effectLst>
            <a:outerShdw blurRad="508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93192" y="2157984"/>
            <a:ext cx="347472" cy="347472"/>
          </a:xfrm>
          <a:prstGeom prst="line">
            <a:avLst/>
          </a:prstGeom>
          <a:solidFill>
            <a:srgbClr val="3D2810"/>
          </a:solidFill>
          <a:ln/>
        </p:spPr>
      </p:sp>
      <p:sp>
        <p:nvSpPr>
          <p:cNvPr id="11" name="Text 9"/>
          <p:cNvSpPr/>
          <p:nvPr/>
        </p:nvSpPr>
        <p:spPr>
          <a:xfrm>
            <a:off x="393192" y="2157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039112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Protocol Config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34086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secure SSH configuration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752344"/>
            <a:ext cx="4069080" cy="667512"/>
          </a:xfrm>
          <a:prstGeom prst="rect">
            <a:avLst/>
          </a:prstGeom>
          <a:solidFill>
            <a:srgbClr val="1A2E42"/>
          </a:solidFill>
          <a:ln/>
          <a:effectLst>
            <a:outerShdw blurRad="508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93192" y="2916936"/>
            <a:ext cx="347472" cy="347472"/>
          </a:xfrm>
          <a:prstGeom prst="line">
            <a:avLst/>
          </a:prstGeom>
          <a:solidFill>
            <a:srgbClr val="3D3510"/>
          </a:solidFill>
          <a:ln/>
        </p:spPr>
      </p:sp>
      <p:sp>
        <p:nvSpPr>
          <p:cNvPr id="16" name="Text 14"/>
          <p:cNvSpPr/>
          <p:nvPr/>
        </p:nvSpPr>
        <p:spPr>
          <a:xfrm>
            <a:off x="393192" y="2916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2798064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Aging Policy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09981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periodic password rotation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511296"/>
            <a:ext cx="4069080" cy="667512"/>
          </a:xfrm>
          <a:prstGeom prst="rect">
            <a:avLst/>
          </a:prstGeom>
          <a:solidFill>
            <a:srgbClr val="1A2E42"/>
          </a:solidFill>
          <a:ln/>
          <a:effectLst>
            <a:outerShdw blurRad="508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93192" y="3675888"/>
            <a:ext cx="347472" cy="347472"/>
          </a:xfrm>
          <a:prstGeom prst="line">
            <a:avLst/>
          </a:prstGeom>
          <a:solidFill>
            <a:srgbClr val="3D3510"/>
          </a:solidFill>
          <a:ln/>
        </p:spPr>
      </p:sp>
      <p:sp>
        <p:nvSpPr>
          <p:cNvPr id="21" name="Text 19"/>
          <p:cNvSpPr/>
          <p:nvPr/>
        </p:nvSpPr>
        <p:spPr>
          <a:xfrm>
            <a:off x="393192" y="3675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3557016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38587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SHA-512 hashing for stored passwords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4270248"/>
            <a:ext cx="4069080" cy="667512"/>
          </a:xfrm>
          <a:prstGeom prst="rect">
            <a:avLst/>
          </a:prstGeom>
          <a:solidFill>
            <a:srgbClr val="1A2E42"/>
          </a:solidFill>
          <a:ln/>
          <a:effectLst>
            <a:outerShdw blurRad="508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93192" y="4434840"/>
            <a:ext cx="347472" cy="347472"/>
          </a:xfrm>
          <a:prstGeom prst="line">
            <a:avLst/>
          </a:prstGeom>
          <a:solidFill>
            <a:srgbClr val="3D2810"/>
          </a:solidFill>
          <a:ln/>
        </p:spPr>
      </p:sp>
      <p:sp>
        <p:nvSpPr>
          <p:cNvPr id="26" name="Text 24"/>
          <p:cNvSpPr/>
          <p:nvPr/>
        </p:nvSpPr>
        <p:spPr>
          <a:xfrm>
            <a:off x="393192" y="4434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" y="4315968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UFW Firewall Status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46177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firewall active?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1234440"/>
            <a:ext cx="4069080" cy="667512"/>
          </a:xfrm>
          <a:prstGeom prst="rect">
            <a:avLst/>
          </a:prstGeom>
          <a:solidFill>
            <a:srgbClr val="1A2E42"/>
          </a:solidFill>
          <a:ln/>
          <a:effectLst>
            <a:outerShdw blurRad="508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36592" y="1399032"/>
            <a:ext cx="347472" cy="347472"/>
          </a:xfrm>
          <a:prstGeom prst="line">
            <a:avLst/>
          </a:prstGeom>
          <a:solidFill>
            <a:srgbClr val="3D3510"/>
          </a:solidFill>
          <a:ln/>
        </p:spPr>
      </p:sp>
      <p:sp>
        <p:nvSpPr>
          <p:cNvPr id="31" name="Text 29"/>
          <p:cNvSpPr/>
          <p:nvPr/>
        </p:nvSpPr>
        <p:spPr>
          <a:xfrm>
            <a:off x="4736592" y="1399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66360" y="1280160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Sudoers File Config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66360" y="15819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requires password authentication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63440" y="1993392"/>
            <a:ext cx="4069080" cy="667512"/>
          </a:xfrm>
          <a:prstGeom prst="rect">
            <a:avLst/>
          </a:prstGeom>
          <a:solidFill>
            <a:srgbClr val="1A2E42"/>
          </a:solidFill>
          <a:ln/>
          <a:effectLst>
            <a:outerShdw blurRad="508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36592" y="2157984"/>
            <a:ext cx="347472" cy="347472"/>
          </a:xfrm>
          <a:prstGeom prst="line">
            <a:avLst/>
          </a:prstGeom>
          <a:solidFill>
            <a:srgbClr val="3D2810"/>
          </a:solidFill>
          <a:ln/>
        </p:spPr>
      </p:sp>
      <p:sp>
        <p:nvSpPr>
          <p:cNvPr id="36" name="Text 34"/>
          <p:cNvSpPr/>
          <p:nvPr/>
        </p:nvSpPr>
        <p:spPr>
          <a:xfrm>
            <a:off x="4736592" y="2157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66360" y="2039112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Ports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66360" y="234086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open ports detection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663440" y="2752344"/>
            <a:ext cx="4069080" cy="667512"/>
          </a:xfrm>
          <a:prstGeom prst="rect">
            <a:avLst/>
          </a:prstGeom>
          <a:solidFill>
            <a:srgbClr val="1A2E42"/>
          </a:solidFill>
          <a:ln/>
          <a:effectLst>
            <a:outerShdw blurRad="508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36592" y="2916936"/>
            <a:ext cx="347472" cy="347472"/>
          </a:xfrm>
          <a:prstGeom prst="line">
            <a:avLst/>
          </a:prstGeom>
          <a:solidFill>
            <a:srgbClr val="3D1515"/>
          </a:solidFill>
          <a:ln/>
        </p:spPr>
      </p:sp>
      <p:sp>
        <p:nvSpPr>
          <p:cNvPr id="41" name="Text 39"/>
          <p:cNvSpPr/>
          <p:nvPr/>
        </p:nvSpPr>
        <p:spPr>
          <a:xfrm>
            <a:off x="4736592" y="2916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66360" y="2798064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World-Writable Files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166360" y="309981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writable by anyone on the system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663440" y="3511296"/>
            <a:ext cx="4069080" cy="667512"/>
          </a:xfrm>
          <a:prstGeom prst="rect">
            <a:avLst/>
          </a:prstGeom>
          <a:solidFill>
            <a:srgbClr val="1A2E42"/>
          </a:solidFill>
          <a:ln/>
          <a:effectLst>
            <a:outerShdw blurRad="508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36592" y="3675888"/>
            <a:ext cx="347472" cy="347472"/>
          </a:xfrm>
          <a:prstGeom prst="line">
            <a:avLst/>
          </a:prstGeom>
          <a:solidFill>
            <a:srgbClr val="3D2810"/>
          </a:solidFill>
          <a:ln/>
        </p:spPr>
      </p:sp>
      <p:sp>
        <p:nvSpPr>
          <p:cNvPr id="46" name="Text 44"/>
          <p:cNvSpPr/>
          <p:nvPr/>
        </p:nvSpPr>
        <p:spPr>
          <a:xfrm>
            <a:off x="4736592" y="3675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166360" y="3557016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No-Owner Files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166360" y="38587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Orphaned files — attacker persistence risk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663440" y="4270248"/>
            <a:ext cx="4069080" cy="667512"/>
          </a:xfrm>
          <a:prstGeom prst="rect">
            <a:avLst/>
          </a:prstGeom>
          <a:solidFill>
            <a:srgbClr val="1A2E42"/>
          </a:solidFill>
          <a:ln/>
          <a:effectLst>
            <a:outerShdw blurRad="508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36592" y="4434840"/>
            <a:ext cx="347472" cy="347472"/>
          </a:xfrm>
          <a:prstGeom prst="line">
            <a:avLst/>
          </a:prstGeom>
          <a:solidFill>
            <a:srgbClr val="103D2E"/>
          </a:solidFill>
          <a:ln/>
        </p:spPr>
      </p:sp>
      <p:sp>
        <p:nvSpPr>
          <p:cNvPr id="51" name="Text 49"/>
          <p:cNvSpPr/>
          <p:nvPr/>
        </p:nvSpPr>
        <p:spPr>
          <a:xfrm>
            <a:off x="4736592" y="4434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166360" y="4315968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File Perms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166360" y="46177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/etc/shadow properly restricted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Gemini AI Core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430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2070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gemini-2.0-flash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51560" y="153619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an expert security auditor — reads raw SSH logs and returns structured findings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20040" y="1965960"/>
            <a:ext cx="4069080" cy="274320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203911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2404872"/>
            <a:ext cx="3794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"findings": 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"severity": "CRITICAL",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"issue": "SSH Root Login",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"explanation": "...",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"impact": "...",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"fix_command": "sed -i..."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}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17720" y="1965960"/>
            <a:ext cx="4206240" cy="274320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754880" y="20391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RESILIENCE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2487168"/>
            <a:ext cx="384048" cy="384048"/>
          </a:xfrm>
          <a:prstGeom prst="line">
            <a:avLst/>
          </a:prstGeom>
          <a:solidFill>
            <a:srgbClr val="0077A8"/>
          </a:solidFill>
          <a:ln/>
        </p:spPr>
      </p:sp>
      <p:sp>
        <p:nvSpPr>
          <p:cNvPr id="13" name="Text 10"/>
          <p:cNvSpPr/>
          <p:nvPr/>
        </p:nvSpPr>
        <p:spPr>
          <a:xfrm>
            <a:off x="4754880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257800" y="248716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Pre-validation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257800" y="27432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exceeding token limit are trimmed before API call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54880" y="3264408"/>
            <a:ext cx="384048" cy="384048"/>
          </a:xfrm>
          <a:prstGeom prst="line">
            <a:avLst/>
          </a:prstGeom>
          <a:solidFill>
            <a:srgbClr val="0077A8"/>
          </a:solidFill>
          <a:ln/>
        </p:spPr>
      </p:sp>
      <p:sp>
        <p:nvSpPr>
          <p:cNvPr id="17" name="Text 14"/>
          <p:cNvSpPr/>
          <p:nvPr/>
        </p:nvSpPr>
        <p:spPr>
          <a:xfrm>
            <a:off x="475488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257800" y="32644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257800" y="35204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429 triggers up to 5 retries: 1s → 2s → 4s → 8s → 16s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54880" y="4041648"/>
            <a:ext cx="384048" cy="384048"/>
          </a:xfrm>
          <a:prstGeom prst="line">
            <a:avLst/>
          </a:prstGeom>
          <a:solidFill>
            <a:srgbClr val="0077A8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0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257800" y="40416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Fallback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257800" y="42976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AI fails, local regex scans logs for known patterns (e.g. PermitRootLogin yes)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20040" y="4828032"/>
            <a:ext cx="8503920" cy="22860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14400" y="4846320"/>
            <a:ext cx="502920" cy="16459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6" name="Text 23"/>
          <p:cNvSpPr/>
          <p:nvPr/>
        </p:nvSpPr>
        <p:spPr>
          <a:xfrm>
            <a:off x="1481328" y="48463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880360" y="4846320"/>
            <a:ext cx="502920" cy="16459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8" name="Text 25"/>
          <p:cNvSpPr/>
          <p:nvPr/>
        </p:nvSpPr>
        <p:spPr>
          <a:xfrm>
            <a:off x="3447288" y="48463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846320" y="4846320"/>
            <a:ext cx="502920" cy="16459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0" name="Text 27"/>
          <p:cNvSpPr/>
          <p:nvPr/>
        </p:nvSpPr>
        <p:spPr>
          <a:xfrm>
            <a:off x="5413248" y="48463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812280" y="4846320"/>
            <a:ext cx="502920" cy="1645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2" name="Text 29"/>
          <p:cNvSpPr/>
          <p:nvPr/>
        </p:nvSpPr>
        <p:spPr>
          <a:xfrm>
            <a:off x="7379208" y="48463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y AI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_kicker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B4D8"/>
                </a:solidFill>
                <a:latin typeface="Calibri" pitchFamily="34" charset="0"/>
              </a:rPr>
              <a:t>04 · AI IMPLEMENTATION</a:t>
            </a:r>
          </a:p>
        </p:txBody>
      </p:sp>
      <p:sp>
        <p:nvSpPr>
          <p:cNvPr id="3" name="Text 3_title"/>
          <p:cNvSpPr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dirty="0">
                <a:solidFill>
                  <a:srgbClr val="FFFFFF"/>
                </a:solidFill>
                <a:latin typeface="Calibri" pitchFamily="34" charset="0"/>
              </a:rPr>
              <a:t>Why We Used AI — Not Just Regex</a:t>
            </a:r>
          </a:p>
        </p:txBody>
      </p:sp>
      <p:sp>
        <p:nvSpPr>
          <p:cNvPr id="10" name="Card 10"/>
          <p:cNvSpPr/>
          <p:nvPr/>
        </p:nvSpPr>
        <p:spPr>
          <a:xfrm>
            <a:off x="365760" y="1280000"/>
            <a:ext cx="4080000" cy="350000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11"/>
          <p:cNvSpPr/>
          <p:nvPr/>
        </p:nvSpPr>
        <p:spPr>
          <a:xfrm>
            <a:off x="457200" y="1330000"/>
            <a:ext cx="400000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BDD5E3"/>
                </a:solidFill>
                <a:latin typeface="Calibri" pitchFamily="34" charset="0"/>
              </a:rPr>
              <a:t>Rule-Based / Regex-Only Approach</a:t>
            </a:r>
          </a:p>
        </p:txBody>
      </p:sp>
      <p:sp>
        <p:nvSpPr>
          <p:cNvPr id="20" name="Text 20"/>
          <p:cNvSpPr/>
          <p:nvPr/>
        </p:nvSpPr>
        <p:spPr>
          <a:xfrm>
            <a:off x="548640" y="1860000"/>
            <a:ext cx="3680000" cy="6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D5E3"/>
                </a:solidFill>
                <a:latin typeface="Calibri" pitchFamily="34" charset="0"/>
              </a:rPr>
              <a:t>✗  Brittle — new CIS rule means writing and maintaining a new parser</a:t>
            </a:r>
          </a:p>
        </p:txBody>
      </p:sp>
      <p:sp>
        <p:nvSpPr>
          <p:cNvPr id="21" name="Text 21"/>
          <p:cNvSpPr/>
          <p:nvPr/>
        </p:nvSpPr>
        <p:spPr>
          <a:xfrm>
            <a:off x="548640" y="2560000"/>
            <a:ext cx="3680000" cy="6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D5E3"/>
                </a:solidFill>
                <a:latin typeface="Calibri" pitchFamily="34" charset="0"/>
              </a:rPr>
              <a:t>✗  Pass/fail only — no severity, no business-impact context</a:t>
            </a:r>
          </a:p>
        </p:txBody>
      </p:sp>
      <p:sp>
        <p:nvSpPr>
          <p:cNvPr id="22" name="Text 22"/>
          <p:cNvSpPr/>
          <p:nvPr/>
        </p:nvSpPr>
        <p:spPr>
          <a:xfrm>
            <a:off x="548640" y="3260000"/>
            <a:ext cx="3680000" cy="6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D5E3"/>
                </a:solidFill>
                <a:latin typeface="Calibri" pitchFamily="34" charset="0"/>
              </a:rPr>
              <a:t>✗  Output is raw jargon — unreadable for junior admins</a:t>
            </a:r>
          </a:p>
        </p:txBody>
      </p:sp>
      <p:sp>
        <p:nvSpPr>
          <p:cNvPr id="23" name="Text 23"/>
          <p:cNvSpPr/>
          <p:nvPr/>
        </p:nvSpPr>
        <p:spPr>
          <a:xfrm>
            <a:off x="548640" y="3960000"/>
            <a:ext cx="3680000" cy="6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D5E3"/>
                </a:solidFill>
                <a:latin typeface="Calibri" pitchFamily="34" charset="0"/>
              </a:rPr>
              <a:t>✗  No remediation guidance — detection without a fix</a:t>
            </a:r>
          </a:p>
        </p:txBody>
      </p:sp>
      <p:sp>
        <p:nvSpPr>
          <p:cNvPr id="40" name="Card 40"/>
          <p:cNvSpPr/>
          <p:nvPr/>
        </p:nvSpPr>
        <p:spPr>
          <a:xfrm>
            <a:off x="4600000" y="1280000"/>
            <a:ext cx="4080000" cy="350000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Text 41"/>
          <p:cNvSpPr/>
          <p:nvPr/>
        </p:nvSpPr>
        <p:spPr>
          <a:xfrm>
            <a:off x="4700000" y="1330000"/>
            <a:ext cx="400000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</a:rPr>
              <a:t>Our Hybrid: Gemini AI + Fallback</a:t>
            </a:r>
          </a:p>
        </p:txBody>
      </p:sp>
      <p:sp>
        <p:nvSpPr>
          <p:cNvPr id="50" name="Text 50"/>
          <p:cNvSpPr/>
          <p:nvPr/>
        </p:nvSpPr>
        <p:spPr>
          <a:xfrm>
            <a:off x="4800000" y="1860000"/>
            <a:ext cx="370000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AF0"/>
                </a:solidFill>
                <a:latin typeface="Calibri" pitchFamily="34" charset="0"/>
              </a:rPr>
              <a:t>✓  Reads unstructured SSH/log output like a security expert</a:t>
            </a:r>
          </a:p>
        </p:txBody>
      </p:sp>
      <p:sp>
        <p:nvSpPr>
          <p:cNvPr id="51" name="Text 51"/>
          <p:cNvSpPr/>
          <p:nvPr/>
        </p:nvSpPr>
        <p:spPr>
          <a:xfrm>
            <a:off x="4800000" y="2420000"/>
            <a:ext cx="370000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AF0"/>
                </a:solidFill>
                <a:latin typeface="Calibri" pitchFamily="34" charset="0"/>
              </a:rPr>
              <a:t>✓  Classifies severity AND explains impact in plain English</a:t>
            </a:r>
          </a:p>
        </p:txBody>
      </p:sp>
      <p:sp>
        <p:nvSpPr>
          <p:cNvPr id="52" name="Text 52"/>
          <p:cNvSpPr/>
          <p:nvPr/>
        </p:nvSpPr>
        <p:spPr>
          <a:xfrm>
            <a:off x="4800000" y="2980000"/>
            <a:ext cx="370000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AF0"/>
                </a:solidFill>
                <a:latin typeface="Calibri" pitchFamily="34" charset="0"/>
              </a:rPr>
              <a:t>✓  New checks need only a prompt update — no parser rewrites</a:t>
            </a:r>
          </a:p>
        </p:txBody>
      </p:sp>
      <p:sp>
        <p:nvSpPr>
          <p:cNvPr id="53" name="Text 53"/>
          <p:cNvSpPr/>
          <p:nvPr/>
        </p:nvSpPr>
        <p:spPr>
          <a:xfrm>
            <a:off x="4800000" y="3540000"/>
            <a:ext cx="370000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AF0"/>
                </a:solidFill>
                <a:latin typeface="Calibri" pitchFamily="34" charset="0"/>
              </a:rPr>
              <a:t>✓  Returns a ready-to-run fix command for every finding</a:t>
            </a:r>
          </a:p>
        </p:txBody>
      </p:sp>
      <p:sp>
        <p:nvSpPr>
          <p:cNvPr id="54" name="Text 54"/>
          <p:cNvSpPr/>
          <p:nvPr/>
        </p:nvSpPr>
        <p:spPr>
          <a:xfrm>
            <a:off x="4800000" y="4100000"/>
            <a:ext cx="370000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AF0"/>
                </a:solidFill>
                <a:latin typeface="Calibri" pitchFamily="34" charset="0"/>
              </a:rPr>
              <a:t>✓  Regex fallback keeps the system working if AI is unavailable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I Pipeline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365760" y="80000"/>
            <a:ext cx="841248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</a:rPr>
              <a:t>04 · AI IMPLEMENTATION</a:t>
            </a:r>
          </a:p>
        </p:txBody>
      </p:sp>
      <p:sp>
        <p:nvSpPr>
          <p:cNvPr id="3" name="T3"/>
          <p:cNvSpPr/>
          <p:nvPr/>
        </p:nvSpPr>
        <p:spPr>
          <a:xfrm>
            <a:off x="365760" y="400000"/>
            <a:ext cx="60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</a:rPr>
              <a:t>AI Pipeline — Raw SSH Output to Structured Findings</a:t>
            </a:r>
          </a:p>
        </p:txBody>
      </p:sp>
      <p:sp>
        <p:nvSpPr>
          <p:cNvPr id="10" name="Card10"/>
          <p:cNvSpPr/>
          <p:nvPr/>
        </p:nvSpPr>
        <p:spPr>
          <a:xfrm>
            <a:off x="365760" y="1050000"/>
            <a:ext cx="5600000" cy="70000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Card11"/>
          <p:cNvSpPr/>
          <p:nvPr/>
        </p:nvSpPr>
        <p:spPr>
          <a:xfrm>
            <a:off x="430000" y="1210000"/>
            <a:ext cx="380000" cy="38000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12"/>
          <p:cNvSpPr/>
          <p:nvPr/>
        </p:nvSpPr>
        <p:spPr>
          <a:xfrm>
            <a:off x="430000" y="121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3" name="T13"/>
          <p:cNvSpPr/>
          <p:nvPr/>
        </p:nvSpPr>
        <p:spPr>
          <a:xfrm>
            <a:off x="950000" y="1130000"/>
            <a:ext cx="25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B4D8"/>
                </a:solidFill>
                <a:latin typeface="Calibri" pitchFamily="34" charset="0"/>
              </a:rPr>
              <a:t>SSH Execution</a:t>
            </a:r>
          </a:p>
        </p:txBody>
      </p:sp>
      <p:sp>
        <p:nvSpPr>
          <p:cNvPr id="14" name="T14"/>
          <p:cNvSpPr/>
          <p:nvPr/>
        </p:nvSpPr>
        <p:spPr>
          <a:xfrm>
            <a:off x="950000" y="1410000"/>
            <a:ext cx="487000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AF0"/>
                </a:solidFill>
                <a:latin typeface="Calibri" pitchFamily="34" charset="0"/>
              </a:rPr>
              <a:t>ssh_service runs all 10 CIS check commands via Paramiko, capturing raw stdout/stderr of each.</a:t>
            </a:r>
          </a:p>
        </p:txBody>
      </p:sp>
      <p:sp>
        <p:nvSpPr>
          <p:cNvPr id="4" name="Card14"/>
          <p:cNvSpPr/>
          <p:nvPr/>
        </p:nvSpPr>
        <p:spPr>
          <a:xfrm>
            <a:off x="365760" y="1810000"/>
            <a:ext cx="5600000" cy="70000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Card15"/>
          <p:cNvSpPr/>
          <p:nvPr/>
        </p:nvSpPr>
        <p:spPr>
          <a:xfrm>
            <a:off x="430000" y="1970000"/>
            <a:ext cx="380000" cy="38000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16"/>
          <p:cNvSpPr/>
          <p:nvPr/>
        </p:nvSpPr>
        <p:spPr>
          <a:xfrm>
            <a:off x="430000" y="197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17" name="T17"/>
          <p:cNvSpPr/>
          <p:nvPr/>
        </p:nvSpPr>
        <p:spPr>
          <a:xfrm>
            <a:off x="950000" y="1890000"/>
            <a:ext cx="25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B4D8"/>
                </a:solidFill>
                <a:latin typeface="Calibri" pitchFamily="34" charset="0"/>
              </a:rPr>
              <a:t>Log Compilation</a:t>
            </a:r>
          </a:p>
        </p:txBody>
      </p:sp>
      <p:sp>
        <p:nvSpPr>
          <p:cNvPr id="18" name="T18"/>
          <p:cNvSpPr/>
          <p:nvPr/>
        </p:nvSpPr>
        <p:spPr>
          <a:xfrm>
            <a:off x="950000" y="2170000"/>
            <a:ext cx="487000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AF0"/>
                </a:solidFill>
                <a:latin typeface="Calibri" pitchFamily="34" charset="0"/>
              </a:rPr>
              <a:t>audit_service labels and concatenates every command output into one audit log document.</a:t>
            </a:r>
          </a:p>
        </p:txBody>
      </p:sp>
      <p:sp>
        <p:nvSpPr>
          <p:cNvPr id="5" name="Card18"/>
          <p:cNvSpPr/>
          <p:nvPr/>
        </p:nvSpPr>
        <p:spPr>
          <a:xfrm>
            <a:off x="365760" y="2570000"/>
            <a:ext cx="5600000" cy="70000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Card19"/>
          <p:cNvSpPr/>
          <p:nvPr/>
        </p:nvSpPr>
        <p:spPr>
          <a:xfrm>
            <a:off x="430000" y="2730000"/>
            <a:ext cx="380000" cy="38000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20"/>
          <p:cNvSpPr/>
          <p:nvPr/>
        </p:nvSpPr>
        <p:spPr>
          <a:xfrm>
            <a:off x="430000" y="273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21" name="T21"/>
          <p:cNvSpPr/>
          <p:nvPr/>
        </p:nvSpPr>
        <p:spPr>
          <a:xfrm>
            <a:off x="950000" y="2650000"/>
            <a:ext cx="25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B4D8"/>
                </a:solidFill>
                <a:latin typeface="Calibri" pitchFamily="34" charset="0"/>
              </a:rPr>
              <a:t>Token Pre-Validation</a:t>
            </a:r>
          </a:p>
        </p:txBody>
      </p:sp>
      <p:sp>
        <p:nvSpPr>
          <p:cNvPr id="22" name="T22"/>
          <p:cNvSpPr/>
          <p:nvPr/>
        </p:nvSpPr>
        <p:spPr>
          <a:xfrm>
            <a:off x="950000" y="2930000"/>
            <a:ext cx="487000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AF0"/>
                </a:solidFill>
                <a:latin typeface="Calibri" pitchFamily="34" charset="0"/>
              </a:rPr>
              <a:t>If the log exceeds Gemini token limit, it is trimmed — keeping the most security-relevant sections.</a:t>
            </a:r>
          </a:p>
        </p:txBody>
      </p:sp>
      <p:sp>
        <p:nvSpPr>
          <p:cNvPr id="6" name="Card22"/>
          <p:cNvSpPr/>
          <p:nvPr/>
        </p:nvSpPr>
        <p:spPr>
          <a:xfrm>
            <a:off x="365760" y="3330000"/>
            <a:ext cx="5600000" cy="70000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Card23"/>
          <p:cNvSpPr/>
          <p:nvPr/>
        </p:nvSpPr>
        <p:spPr>
          <a:xfrm>
            <a:off x="430000" y="3490000"/>
            <a:ext cx="380000" cy="38000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24"/>
          <p:cNvSpPr/>
          <p:nvPr/>
        </p:nvSpPr>
        <p:spPr>
          <a:xfrm>
            <a:off x="430000" y="349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25" name="T25"/>
          <p:cNvSpPr/>
          <p:nvPr/>
        </p:nvSpPr>
        <p:spPr>
          <a:xfrm>
            <a:off x="950000" y="3410000"/>
            <a:ext cx="25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B4D8"/>
                </a:solidFill>
                <a:latin typeface="Calibri" pitchFamily="34" charset="0"/>
              </a:rPr>
              <a:t>Prompt to Gemini</a:t>
            </a:r>
          </a:p>
        </p:txBody>
      </p:sp>
      <p:sp>
        <p:nvSpPr>
          <p:cNvPr id="26" name="T26"/>
          <p:cNvSpPr/>
          <p:nvPr/>
        </p:nvSpPr>
        <p:spPr>
          <a:xfrm>
            <a:off x="950000" y="3690000"/>
            <a:ext cx="487000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AF0"/>
                </a:solidFill>
                <a:latin typeface="Calibri" pitchFamily="34" charset="0"/>
              </a:rPr>
              <a:t>gemini_service sends the log with a system prompt to gemini-2.0-flash for structured analysis.</a:t>
            </a:r>
          </a:p>
        </p:txBody>
      </p:sp>
      <p:sp>
        <p:nvSpPr>
          <p:cNvPr id="7" name="Card26"/>
          <p:cNvSpPr/>
          <p:nvPr/>
        </p:nvSpPr>
        <p:spPr>
          <a:xfrm>
            <a:off x="365760" y="4090000"/>
            <a:ext cx="5600000" cy="70000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Card27"/>
          <p:cNvSpPr/>
          <p:nvPr/>
        </p:nvSpPr>
        <p:spPr>
          <a:xfrm>
            <a:off x="430000" y="4250000"/>
            <a:ext cx="380000" cy="38000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28"/>
          <p:cNvSpPr/>
          <p:nvPr/>
        </p:nvSpPr>
        <p:spPr>
          <a:xfrm>
            <a:off x="430000" y="425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29" name="T29"/>
          <p:cNvSpPr/>
          <p:nvPr/>
        </p:nvSpPr>
        <p:spPr>
          <a:xfrm>
            <a:off x="950000" y="4170000"/>
            <a:ext cx="25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B4D8"/>
                </a:solidFill>
                <a:latin typeface="Calibri" pitchFamily="34" charset="0"/>
              </a:rPr>
              <a:t>Structured Extraction</a:t>
            </a:r>
          </a:p>
        </p:txBody>
      </p:sp>
      <p:sp>
        <p:nvSpPr>
          <p:cNvPr id="30" name="T30"/>
          <p:cNvSpPr/>
          <p:nvPr/>
        </p:nvSpPr>
        <p:spPr>
          <a:xfrm>
            <a:off x="950000" y="4450000"/>
            <a:ext cx="487000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AF0"/>
                </a:solidFill>
                <a:latin typeface="Calibri" pitchFamily="34" charset="0"/>
              </a:rPr>
              <a:t>Gemini returns JSON findings; each one is validated and inserted as a row in the findings table.</a:t>
            </a:r>
          </a:p>
        </p:txBody>
      </p:sp>
      <p:sp>
        <p:nvSpPr>
          <p:cNvPr id="80" name="Card80"/>
          <p:cNvSpPr/>
          <p:nvPr/>
        </p:nvSpPr>
        <p:spPr>
          <a:xfrm>
            <a:off x="6100000" y="1050000"/>
            <a:ext cx="2850000" cy="375000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1" name="T81"/>
          <p:cNvSpPr/>
          <p:nvPr/>
        </p:nvSpPr>
        <p:spPr>
          <a:xfrm>
            <a:off x="6200000" y="1120000"/>
            <a:ext cx="27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</a:rPr>
              <a:t>Output Format (JSON)</a:t>
            </a:r>
          </a:p>
        </p:txBody>
      </p:sp>
      <p:sp>
        <p:nvSpPr>
          <p:cNvPr id="90" name="T90"/>
          <p:cNvSpPr/>
          <p:nvPr/>
        </p:nvSpPr>
        <p:spPr>
          <a:xfrm>
            <a:off x="6250000" y="1530000"/>
            <a:ext cx="265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</a:rPr>
              <a:t>{ "findings": [</a:t>
            </a:r>
          </a:p>
        </p:txBody>
      </p:sp>
      <p:sp>
        <p:nvSpPr>
          <p:cNvPr id="91" name="T91"/>
          <p:cNvSpPr/>
          <p:nvPr/>
        </p:nvSpPr>
        <p:spPr>
          <a:xfrm>
            <a:off x="6250000" y="1950000"/>
            <a:ext cx="265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</a:rPr>
              <a:t>  {</a:t>
            </a:r>
          </a:p>
        </p:txBody>
      </p:sp>
      <p:sp>
        <p:nvSpPr>
          <p:cNvPr id="92" name="T92"/>
          <p:cNvSpPr/>
          <p:nvPr/>
        </p:nvSpPr>
        <p:spPr>
          <a:xfrm>
            <a:off x="6250000" y="2370000"/>
            <a:ext cx="265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</a:rPr>
              <a:t>    "severity": "CRITICAL",</a:t>
            </a:r>
          </a:p>
        </p:txBody>
      </p:sp>
      <p:sp>
        <p:nvSpPr>
          <p:cNvPr id="93" name="T93"/>
          <p:cNvSpPr/>
          <p:nvPr/>
        </p:nvSpPr>
        <p:spPr>
          <a:xfrm>
            <a:off x="6250000" y="2790000"/>
            <a:ext cx="265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</a:rPr>
              <a:t>    "issue": "SSH Root Login",</a:t>
            </a:r>
          </a:p>
        </p:txBody>
      </p:sp>
      <p:sp>
        <p:nvSpPr>
          <p:cNvPr id="94" name="T94"/>
          <p:cNvSpPr/>
          <p:nvPr/>
        </p:nvSpPr>
        <p:spPr>
          <a:xfrm>
            <a:off x="6250000" y="3210000"/>
            <a:ext cx="265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</a:rPr>
              <a:t>    "explanation": "...",</a:t>
            </a:r>
          </a:p>
        </p:txBody>
      </p:sp>
      <p:sp>
        <p:nvSpPr>
          <p:cNvPr id="95" name="T95"/>
          <p:cNvSpPr/>
          <p:nvPr/>
        </p:nvSpPr>
        <p:spPr>
          <a:xfrm>
            <a:off x="6250000" y="3630000"/>
            <a:ext cx="265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</a:rPr>
              <a:t>    "impact": "...",</a:t>
            </a:r>
          </a:p>
        </p:txBody>
      </p:sp>
      <p:sp>
        <p:nvSpPr>
          <p:cNvPr id="96" name="T96"/>
          <p:cNvSpPr/>
          <p:nvPr/>
        </p:nvSpPr>
        <p:spPr>
          <a:xfrm>
            <a:off x="6250000" y="4050000"/>
            <a:ext cx="265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</a:rPr>
              <a:t>    "fix_command": "sed -i..."</a:t>
            </a:r>
          </a:p>
        </p:txBody>
      </p:sp>
      <p:sp>
        <p:nvSpPr>
          <p:cNvPr id="97" name="T97"/>
          <p:cNvSpPr/>
          <p:nvPr/>
        </p:nvSpPr>
        <p:spPr>
          <a:xfrm>
            <a:off x="6250000" y="4470000"/>
            <a:ext cx="265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</a:rPr>
              <a:t>  }</a:t>
            </a:r>
          </a:p>
        </p:txBody>
      </p:sp>
      <p:sp>
        <p:nvSpPr>
          <p:cNvPr id="98" name="T98"/>
          <p:cNvSpPr/>
          <p:nvPr/>
        </p:nvSpPr>
        <p:spPr>
          <a:xfrm>
            <a:off x="6250000" y="4890000"/>
            <a:ext cx="265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</a:rPr>
              <a:t>] 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I Resilience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_kicker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B4D8"/>
                </a:solidFill>
                <a:latin typeface="Calibri" pitchFamily="34" charset="0"/>
              </a:rPr>
              <a:t>04 · AI IMPLEMENTATION</a:t>
            </a:r>
          </a:p>
        </p:txBody>
      </p:sp>
      <p:sp>
        <p:nvSpPr>
          <p:cNvPr id="3" name="Text 3_title"/>
          <p:cNvSpPr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dirty="0">
                <a:solidFill>
                  <a:srgbClr val="FFFFFF"/>
                </a:solidFill>
                <a:latin typeface="Calibri" pitchFamily="34" charset="0"/>
              </a:rPr>
              <a:t>Reliability — A 3-Layer Resilience Strategy</a:t>
            </a:r>
          </a:p>
        </p:txBody>
      </p:sp>
      <p:sp>
        <p:nvSpPr>
          <p:cNvPr id="10" name="Card 10"/>
          <p:cNvSpPr/>
          <p:nvPr/>
        </p:nvSpPr>
        <p:spPr>
          <a:xfrm>
            <a:off x="365760" y="1280000"/>
            <a:ext cx="8412480" cy="118000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Badge 11"/>
          <p:cNvSpPr/>
          <p:nvPr/>
        </p:nvSpPr>
        <p:spPr>
          <a:xfrm>
            <a:off x="548640" y="1670000"/>
            <a:ext cx="457200" cy="45720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12" name="Text 12"/>
          <p:cNvSpPr/>
          <p:nvPr/>
        </p:nvSpPr>
        <p:spPr>
          <a:xfrm>
            <a:off x="548640" y="1670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3" name="Text 13"/>
          <p:cNvSpPr/>
          <p:nvPr/>
        </p:nvSpPr>
        <p:spPr>
          <a:xfrm>
            <a:off x="1280000" y="1430000"/>
            <a:ext cx="250000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</a:rPr>
              <a:t>Token Pre-Validation</a:t>
            </a:r>
          </a:p>
        </p:txBody>
      </p:sp>
      <p:sp>
        <p:nvSpPr>
          <p:cNvPr id="14" name="Text 14"/>
          <p:cNvSpPr/>
          <p:nvPr/>
        </p:nvSpPr>
        <p:spPr>
          <a:xfrm>
            <a:off x="4100000" y="1400000"/>
            <a:ext cx="4500000" cy="9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AF0"/>
                </a:solidFill>
                <a:latin typeface="Calibri" pitchFamily="34" charset="0"/>
              </a:rPr>
              <a:t>Before any API call, the compiled log is measured against Gemini token limit. Oversized logs are trimmed so the request never fails on size alone — verbose servers do not break the audit.</a:t>
            </a:r>
          </a:p>
        </p:txBody>
      </p:sp>
      <p:sp>
        <p:nvSpPr>
          <p:cNvPr id="4" name="Card 13"/>
          <p:cNvSpPr/>
          <p:nvPr/>
        </p:nvSpPr>
        <p:spPr>
          <a:xfrm>
            <a:off x="365760" y="2550000"/>
            <a:ext cx="8412480" cy="118000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Badge 14"/>
          <p:cNvSpPr/>
          <p:nvPr/>
        </p:nvSpPr>
        <p:spPr>
          <a:xfrm>
            <a:off x="548640" y="2940000"/>
            <a:ext cx="457200" cy="45720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15" name="Text 15"/>
          <p:cNvSpPr/>
          <p:nvPr/>
        </p:nvSpPr>
        <p:spPr>
          <a:xfrm>
            <a:off x="548640" y="2940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16" name="Text 16"/>
          <p:cNvSpPr/>
          <p:nvPr/>
        </p:nvSpPr>
        <p:spPr>
          <a:xfrm>
            <a:off x="1280000" y="2700000"/>
            <a:ext cx="250000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</a:rPr>
              <a:t>Exponential Backoff</a:t>
            </a:r>
          </a:p>
        </p:txBody>
      </p:sp>
      <p:sp>
        <p:nvSpPr>
          <p:cNvPr id="17" name="Text 17"/>
          <p:cNvSpPr/>
          <p:nvPr/>
        </p:nvSpPr>
        <p:spPr>
          <a:xfrm>
            <a:off x="4100000" y="2670000"/>
            <a:ext cx="4500000" cy="9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AF0"/>
                </a:solidFill>
                <a:latin typeface="Calibri" pitchFamily="34" charset="0"/>
              </a:rPr>
              <a:t>If Gemini responds HTTP 429 (rate limited), the request is retried up to 5 times with increasing delays: 1s → 2s → 4s → 8s → 16s — smoothing over transient API throttling without failing the audit.</a:t>
            </a:r>
          </a:p>
        </p:txBody>
      </p:sp>
      <p:sp>
        <p:nvSpPr>
          <p:cNvPr id="6" name="Card 16"/>
          <p:cNvSpPr/>
          <p:nvPr/>
        </p:nvSpPr>
        <p:spPr>
          <a:xfrm>
            <a:off x="365760" y="3820000"/>
            <a:ext cx="8412480" cy="118000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Badge 17"/>
          <p:cNvSpPr/>
          <p:nvPr/>
        </p:nvSpPr>
        <p:spPr>
          <a:xfrm>
            <a:off x="548640" y="4210000"/>
            <a:ext cx="457200" cy="45720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18" name="Text 18"/>
          <p:cNvSpPr/>
          <p:nvPr/>
        </p:nvSpPr>
        <p:spPr>
          <a:xfrm>
            <a:off x="548640" y="4210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19" name="Text 19"/>
          <p:cNvSpPr/>
          <p:nvPr/>
        </p:nvSpPr>
        <p:spPr>
          <a:xfrm>
            <a:off x="1280000" y="3970000"/>
            <a:ext cx="250000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</a:rPr>
              <a:t>Rule-Based Fallback</a:t>
            </a:r>
          </a:p>
        </p:txBody>
      </p:sp>
      <p:sp>
        <p:nvSpPr>
          <p:cNvPr id="20" name="Text 20"/>
          <p:cNvSpPr/>
          <p:nvPr/>
        </p:nvSpPr>
        <p:spPr>
          <a:xfrm>
            <a:off x="4100000" y="3940000"/>
            <a:ext cx="4500000" cy="9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AF0"/>
                </a:solidFill>
                <a:latin typeface="Calibri" pitchFamily="34" charset="0"/>
              </a:rPr>
              <a:t>If the AI call still fails after all retries, a local regex engine scans the raw logs for known critical patterns (e.g. PermitRootLogin yes) so the audit still returns useful findings.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Two Cloud Platforms?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743200" cy="329184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34440"/>
            <a:ext cx="2743200" cy="685800"/>
          </a:xfrm>
          <a:prstGeom prst="rect">
            <a:avLst/>
          </a:prstGeom>
          <a:solidFill>
            <a:srgbClr val="0077A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4416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3258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05840" y="16642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2029968"/>
            <a:ext cx="2514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CDN — serves React from edge nodes worldwide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Auto-deploys on every GitHub push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sufficient for static frontend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46120" y="1234440"/>
            <a:ext cx="2743200" cy="329184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234440"/>
            <a:ext cx="2743200" cy="685800"/>
          </a:xfrm>
          <a:prstGeom prst="rect">
            <a:avLst/>
          </a:prstGeom>
          <a:solidFill>
            <a:srgbClr val="006B8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34416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31920" y="13258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931920" y="16642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383280" y="2029968"/>
            <a:ext cx="2514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request timeout — audits can take 15-45 seconds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process — keeps SSH connections alive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Auto-restart + pull on GitHub push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72200" y="1234440"/>
            <a:ext cx="2743200" cy="329184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72200" y="1234440"/>
            <a:ext cx="2743200" cy="685800"/>
          </a:xfrm>
          <a:prstGeom prst="rect">
            <a:avLst/>
          </a:prstGeom>
          <a:solidFill>
            <a:srgbClr val="005C7A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344168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58000" y="13258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Neon.tech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6858000" y="16642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Database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309360" y="2029968"/>
            <a:ext cx="2514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PostgreSQL — scales to zero when idle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from compute — no bottlenecks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with SSL encryption built-in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736592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68680" y="4681728"/>
            <a:ext cx="7818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 Push to GitHub main → Vercel rebuilds frontend + Render restarts backend automatically — zero manual steps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AUDIT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AI-Generated Security Findings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8503920" cy="1170432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34440"/>
            <a:ext cx="1051560" cy="117043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234440"/>
            <a:ext cx="10515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81328" y="1325880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Root Login Enabled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81328" y="1645920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PermitRootLogin is set to 'yes' in /etc/ssh/sshd_config, allowing direct root authentication.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81328" y="1874520"/>
            <a:ext cx="7178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Full system compromise with a single credential breach. No audit trail for root actions.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514600"/>
            <a:ext cx="8503920" cy="1170432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Shape 11"/>
          <p:cNvSpPr/>
          <p:nvPr/>
        </p:nvSpPr>
        <p:spPr>
          <a:xfrm>
            <a:off x="320040" y="2514600"/>
            <a:ext cx="1051560" cy="11704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514600"/>
            <a:ext cx="10515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81328" y="2606040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UFW Firewall Disabled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81328" y="2926080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Uncomplicated Firewall (UFW) reports 'inactive' — no packet filtering is in place.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81328" y="3154680"/>
            <a:ext cx="7178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All network ports are exposed. Attackers can probe and connect to any listening service.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794760"/>
            <a:ext cx="8503920" cy="1170432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794760"/>
            <a:ext cx="1051560" cy="117043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3794760"/>
            <a:ext cx="10515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81328" y="3886200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Password Aging Policy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81328" y="4206240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PASS_MAX_DAYS is set to 99999 in /etc/login.defs, meaning passwords never expire.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81328" y="4434840"/>
            <a:ext cx="7178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Compromised credentials remain valid indefinitely, extending attacker access window.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Testing with Pytest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1965960" cy="100584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28016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1783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1234440"/>
            <a:ext cx="1965960" cy="100584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28016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10s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68880" y="1783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Runtime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17720" y="1234440"/>
            <a:ext cx="1965960" cy="100584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28016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17720" y="1783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1234440"/>
            <a:ext cx="1965960" cy="100584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128016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66560" y="1783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SSH Calls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423160"/>
            <a:ext cx="8503920" cy="54864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23744"/>
            <a:ext cx="347472" cy="347472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960120" y="2487168"/>
            <a:ext cx="822960" cy="2926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9" name="Text 16"/>
          <p:cNvSpPr/>
          <p:nvPr/>
        </p:nvSpPr>
        <p:spPr>
          <a:xfrm>
            <a:off x="960120" y="248716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901952" y="24871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Login Enabled</a:t>
            </a:r>
            <a:endParaRPr lang="en-US" sz="13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232" y="2523744"/>
            <a:ext cx="292608" cy="29260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669280" y="24871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Flagged as CRITICAL severity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320040" y="3044952"/>
            <a:ext cx="8503920" cy="54864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145536"/>
            <a:ext cx="347472" cy="347472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960120" y="3108960"/>
            <a:ext cx="822960" cy="2926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6" name="Text 21"/>
          <p:cNvSpPr/>
          <p:nvPr/>
        </p:nvSpPr>
        <p:spPr>
          <a:xfrm>
            <a:off x="960120" y="31089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1901952" y="31089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UFW Firewall Inactive</a:t>
            </a:r>
            <a:endParaRPr lang="en-US" sz="13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232" y="3145536"/>
            <a:ext cx="292608" cy="29260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669280" y="31089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Flagged as HIGH severity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320040" y="3666744"/>
            <a:ext cx="8503920" cy="54864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767328"/>
            <a:ext cx="347472" cy="347472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960120" y="3730752"/>
            <a:ext cx="822960" cy="2926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3" name="Text 26"/>
          <p:cNvSpPr/>
          <p:nvPr/>
        </p:nvSpPr>
        <p:spPr>
          <a:xfrm>
            <a:off x="960120" y="373075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1901952" y="37307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OS Version</a:t>
            </a:r>
            <a:endParaRPr lang="en-US" sz="1300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232" y="3767328"/>
            <a:ext cx="292608" cy="29260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669280" y="37307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Warning finding generated</a:t>
            </a:r>
            <a:endParaRPr lang="en-US" sz="1200" dirty="0"/>
          </a:p>
        </p:txBody>
      </p:sp>
      <p:sp>
        <p:nvSpPr>
          <p:cNvPr id="37" name="Shape 29"/>
          <p:cNvSpPr/>
          <p:nvPr/>
        </p:nvSpPr>
        <p:spPr>
          <a:xfrm>
            <a:off x="320040" y="4288536"/>
            <a:ext cx="8503920" cy="54864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389120"/>
            <a:ext cx="347472" cy="347472"/>
          </a:xfrm>
          <a:prstGeom prst="rect">
            <a:avLst/>
          </a:prstGeom>
        </p:spPr>
      </p:pic>
      <p:sp>
        <p:nvSpPr>
          <p:cNvPr id="39" name="Shape 30"/>
          <p:cNvSpPr/>
          <p:nvPr/>
        </p:nvSpPr>
        <p:spPr>
          <a:xfrm>
            <a:off x="960120" y="4352544"/>
            <a:ext cx="822960" cy="292608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40" name="Text 31"/>
          <p:cNvSpPr/>
          <p:nvPr/>
        </p:nvSpPr>
        <p:spPr>
          <a:xfrm>
            <a:off x="960120" y="435254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000" dirty="0"/>
          </a:p>
        </p:txBody>
      </p:sp>
      <p:sp>
        <p:nvSpPr>
          <p:cNvPr id="41" name="Text 32"/>
          <p:cNvSpPr/>
          <p:nvPr/>
        </p:nvSpPr>
        <p:spPr>
          <a:xfrm>
            <a:off x="1901952" y="43525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SSH Credentials</a:t>
            </a:r>
            <a:endParaRPr lang="en-US" sz="1300" dirty="0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232" y="4389120"/>
            <a:ext cx="292608" cy="29260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5669280" y="435254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Returns SSH_AUTHENTICATION_FAILED</a:t>
            </a:r>
            <a:endParaRPr lang="en-US" sz="1200" dirty="0"/>
          </a:p>
        </p:txBody>
      </p:sp>
      <p:sp>
        <p:nvSpPr>
          <p:cNvPr id="45" name="Text 35"/>
          <p:cNvSpPr/>
          <p:nvPr/>
        </p:nvSpPr>
        <p:spPr>
          <a:xfrm>
            <a:off x="457200" y="4956048"/>
            <a:ext cx="83210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ch Stack Frontend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_kicker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B4D8"/>
                </a:solidFill>
                <a:latin typeface="Calibri" pitchFamily="34" charset="0"/>
              </a:rPr>
              <a:t>06 · TECH STACK JUSTIFICATION</a:t>
            </a:r>
          </a:p>
        </p:txBody>
      </p:sp>
      <p:sp>
        <p:nvSpPr>
          <p:cNvPr id="3" name="Text 3_title"/>
          <p:cNvSpPr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dirty="0">
                <a:solidFill>
                  <a:srgbClr val="FFFFFF"/>
                </a:solidFill>
                <a:latin typeface="Calibri" pitchFamily="34" charset="0"/>
              </a:rPr>
              <a:t>Frontend Stack — Why Each Choice</a:t>
            </a:r>
          </a:p>
        </p:txBody>
      </p:sp>
      <p:sp>
        <p:nvSpPr>
          <p:cNvPr id="10" name="Card 10"/>
          <p:cNvSpPr/>
          <p:nvPr/>
        </p:nvSpPr>
        <p:spPr>
          <a:xfrm>
            <a:off x="274320" y="1250000"/>
            <a:ext cx="4000000" cy="175000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11"/>
          <p:cNvSpPr/>
          <p:nvPr/>
        </p:nvSpPr>
        <p:spPr>
          <a:xfrm>
            <a:off x="457200" y="1432880"/>
            <a:ext cx="3634240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0B4D8"/>
                </a:solidFill>
                <a:latin typeface="Calibri" pitchFamily="34" charset="0"/>
              </a:rPr>
              <a:t>React</a:t>
            </a:r>
          </a:p>
        </p:txBody>
      </p:sp>
      <p:sp>
        <p:nvSpPr>
          <p:cNvPr id="12" name="Text 12"/>
          <p:cNvSpPr/>
          <p:nvPr/>
        </p:nvSpPr>
        <p:spPr>
          <a:xfrm>
            <a:off x="457200" y="1910000"/>
            <a:ext cx="3634240" cy="10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0EAF0"/>
                </a:solidFill>
                <a:latin typeface="Calibri" pitchFamily="34" charset="0"/>
              </a:rPr>
              <a:t>Component-based UI ideal for a dashboard with frequent localised state updates (severity counts, findings). Massive ecosystem and hooks model fit the team skills and project timeline.</a:t>
            </a:r>
          </a:p>
        </p:txBody>
      </p:sp>
      <p:sp>
        <p:nvSpPr>
          <p:cNvPr id="13" name="Card 13"/>
          <p:cNvSpPr/>
          <p:nvPr/>
        </p:nvSpPr>
        <p:spPr>
          <a:xfrm>
            <a:off x="4594320" y="1250000"/>
            <a:ext cx="4000000" cy="175000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4"/>
          <p:cNvSpPr/>
          <p:nvPr/>
        </p:nvSpPr>
        <p:spPr>
          <a:xfrm>
            <a:off x="4777200" y="1432880"/>
            <a:ext cx="3634240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0B4D8"/>
                </a:solidFill>
                <a:latin typeface="Calibri" pitchFamily="34" charset="0"/>
              </a:rPr>
              <a:t>Vite</a:t>
            </a:r>
          </a:p>
        </p:txBody>
      </p:sp>
      <p:sp>
        <p:nvSpPr>
          <p:cNvPr id="15" name="Text 15"/>
          <p:cNvSpPr/>
          <p:nvPr/>
        </p:nvSpPr>
        <p:spPr>
          <a:xfrm>
            <a:off x="4777200" y="1910000"/>
            <a:ext cx="3634240" cy="10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0EAF0"/>
                </a:solidFill>
                <a:latin typeface="Calibri" pitchFamily="34" charset="0"/>
              </a:rPr>
              <a:t>Near-instant dev server and hot module reload via native ESM — critical for fast iteration while the UI and API contract were evolving together during development.</a:t>
            </a:r>
          </a:p>
        </p:txBody>
      </p:sp>
      <p:sp>
        <p:nvSpPr>
          <p:cNvPr id="16" name="Card 16"/>
          <p:cNvSpPr/>
          <p:nvPr/>
        </p:nvSpPr>
        <p:spPr>
          <a:xfrm>
            <a:off x="274320" y="3150000"/>
            <a:ext cx="4000000" cy="175000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7"/>
          <p:cNvSpPr/>
          <p:nvPr/>
        </p:nvSpPr>
        <p:spPr>
          <a:xfrm>
            <a:off x="457200" y="3332880"/>
            <a:ext cx="3634240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0B4D8"/>
                </a:solidFill>
                <a:latin typeface="Calibri" pitchFamily="34" charset="0"/>
              </a:rPr>
              <a:t>Tailwind CSS</a:t>
            </a:r>
          </a:p>
        </p:txBody>
      </p:sp>
      <p:sp>
        <p:nvSpPr>
          <p:cNvPr id="18" name="Text 18"/>
          <p:cNvSpPr/>
          <p:nvPr/>
        </p:nvSpPr>
        <p:spPr>
          <a:xfrm>
            <a:off x="457200" y="3810000"/>
            <a:ext cx="3634240" cy="10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0EAF0"/>
                </a:solidFill>
                <a:latin typeface="Calibri" pitchFamily="34" charset="0"/>
              </a:rPr>
              <a:t>Utility-first styling for a consistent severity colour-coded design system (Critical/High/Medium/Low badges) without maintaining custom CSS files per component.</a:t>
            </a:r>
          </a:p>
        </p:txBody>
      </p:sp>
      <p:sp>
        <p:nvSpPr>
          <p:cNvPr id="19" name="Card 19"/>
          <p:cNvSpPr/>
          <p:nvPr/>
        </p:nvSpPr>
        <p:spPr>
          <a:xfrm>
            <a:off x="4594320" y="3150000"/>
            <a:ext cx="4000000" cy="175000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20"/>
          <p:cNvSpPr/>
          <p:nvPr/>
        </p:nvSpPr>
        <p:spPr>
          <a:xfrm>
            <a:off x="4777200" y="3332880"/>
            <a:ext cx="3634240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0B4D8"/>
                </a:solidFill>
                <a:latin typeface="Calibri" pitchFamily="34" charset="0"/>
              </a:rPr>
              <a:t>Axios</a:t>
            </a:r>
          </a:p>
        </p:txBody>
      </p:sp>
      <p:sp>
        <p:nvSpPr>
          <p:cNvPr id="21" name="Text 21"/>
          <p:cNvSpPr/>
          <p:nvPr/>
        </p:nvSpPr>
        <p:spPr>
          <a:xfrm>
            <a:off x="4777200" y="3810000"/>
            <a:ext cx="3634240" cy="10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0EAF0"/>
                </a:solidFill>
                <a:latin typeface="Calibri" pitchFamily="34" charset="0"/>
              </a:rPr>
              <a:t>Promise-based HTTP client with an interceptor layer — the foundation of the 'never crash on partial data' resilience pattern used throughout the useAudit hook and results pages.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ch Stack Backend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_kicker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B4D8"/>
                </a:solidFill>
                <a:latin typeface="Calibri" pitchFamily="34" charset="0"/>
              </a:rPr>
              <a:t>06 · TECH STACK JUSTIFICATION</a:t>
            </a:r>
          </a:p>
        </p:txBody>
      </p:sp>
      <p:sp>
        <p:nvSpPr>
          <p:cNvPr id="3" name="Text 3_title"/>
          <p:cNvSpPr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dirty="0">
                <a:solidFill>
                  <a:srgbClr val="FFFFFF"/>
                </a:solidFill>
                <a:latin typeface="Calibri" pitchFamily="34" charset="0"/>
              </a:rPr>
              <a:t>Backend and AI Stack — Why Each Choice</a:t>
            </a:r>
          </a:p>
        </p:txBody>
      </p:sp>
      <p:sp>
        <p:nvSpPr>
          <p:cNvPr id="10" name="Card 10"/>
          <p:cNvSpPr/>
          <p:nvPr/>
        </p:nvSpPr>
        <p:spPr>
          <a:xfrm>
            <a:off x="274320" y="1250000"/>
            <a:ext cx="4000000" cy="175000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11"/>
          <p:cNvSpPr/>
          <p:nvPr/>
        </p:nvSpPr>
        <p:spPr>
          <a:xfrm>
            <a:off x="457200" y="1432880"/>
            <a:ext cx="3634240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</a:rPr>
              <a:t>FastAPI (Python 3.11)</a:t>
            </a:r>
          </a:p>
        </p:txBody>
      </p:sp>
      <p:sp>
        <p:nvSpPr>
          <p:cNvPr id="12" name="Text 12"/>
          <p:cNvSpPr/>
          <p:nvPr/>
        </p:nvSpPr>
        <p:spPr>
          <a:xfrm>
            <a:off x="457200" y="1910000"/>
            <a:ext cx="3634240" cy="10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0EAF0"/>
                </a:solidFill>
                <a:latin typeface="Calibri" pitchFamily="34" charset="0"/>
              </a:rPr>
              <a:t>Async-first framework — ideal because SSH sessions and Gemini API calls are I/O-bound. Built-in Pydantic validation and auto-generated OpenAPI docs sped up frontend integration testing.</a:t>
            </a:r>
          </a:p>
        </p:txBody>
      </p:sp>
      <p:sp>
        <p:nvSpPr>
          <p:cNvPr id="13" name="Card 13"/>
          <p:cNvSpPr/>
          <p:nvPr/>
        </p:nvSpPr>
        <p:spPr>
          <a:xfrm>
            <a:off x="4594320" y="1250000"/>
            <a:ext cx="4000000" cy="175000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4"/>
          <p:cNvSpPr/>
          <p:nvPr/>
        </p:nvSpPr>
        <p:spPr>
          <a:xfrm>
            <a:off x="4777200" y="1432880"/>
            <a:ext cx="3634240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</a:rPr>
              <a:t>Paramiko (SSH)</a:t>
            </a:r>
          </a:p>
        </p:txBody>
      </p:sp>
      <p:sp>
        <p:nvSpPr>
          <p:cNvPr id="15" name="Text 15"/>
          <p:cNvSpPr/>
          <p:nvPr/>
        </p:nvSpPr>
        <p:spPr>
          <a:xfrm>
            <a:off x="4777200" y="1910000"/>
            <a:ext cx="3634240" cy="10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0EAF0"/>
                </a:solidFill>
                <a:latin typeface="Calibri" pitchFamily="34" charset="0"/>
              </a:rPr>
              <a:t>Pure-Python SSH2 library — lets the backend programmatically authenticate and run the 10 CIS check commands on any target Linux server without subprocess SSH-CLI calls.</a:t>
            </a:r>
          </a:p>
        </p:txBody>
      </p:sp>
      <p:sp>
        <p:nvSpPr>
          <p:cNvPr id="16" name="Card 16"/>
          <p:cNvSpPr/>
          <p:nvPr/>
        </p:nvSpPr>
        <p:spPr>
          <a:xfrm>
            <a:off x="274320" y="3150000"/>
            <a:ext cx="4000000" cy="175000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7"/>
          <p:cNvSpPr/>
          <p:nvPr/>
        </p:nvSpPr>
        <p:spPr>
          <a:xfrm>
            <a:off x="457200" y="3332880"/>
            <a:ext cx="3634240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</a:rPr>
              <a:t>Google Gemini (gemini-2.0-flash)</a:t>
            </a:r>
          </a:p>
        </p:txBody>
      </p:sp>
      <p:sp>
        <p:nvSpPr>
          <p:cNvPr id="18" name="Text 18"/>
          <p:cNvSpPr/>
          <p:nvPr/>
        </p:nvSpPr>
        <p:spPr>
          <a:xfrm>
            <a:off x="457200" y="3810000"/>
            <a:ext cx="3634240" cy="10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0EAF0"/>
                </a:solidFill>
                <a:latin typeface="Calibri" pitchFamily="34" charset="0"/>
              </a:rPr>
              <a:t>Fast, low-latency model fitting the 15-45 second audit budget. Strong JSON structured-output support, and free-tier API access — essential for a zero-budget student project.</a:t>
            </a:r>
          </a:p>
        </p:txBody>
      </p:sp>
      <p:sp>
        <p:nvSpPr>
          <p:cNvPr id="19" name="Card 19"/>
          <p:cNvSpPr/>
          <p:nvPr/>
        </p:nvSpPr>
        <p:spPr>
          <a:xfrm>
            <a:off x="4594320" y="3150000"/>
            <a:ext cx="4000000" cy="175000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20"/>
          <p:cNvSpPr/>
          <p:nvPr/>
        </p:nvSpPr>
        <p:spPr>
          <a:xfrm>
            <a:off x="4777200" y="3332880"/>
            <a:ext cx="3634240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</a:rPr>
              <a:t>Pydantic</a:t>
            </a:r>
          </a:p>
        </p:txBody>
      </p:sp>
      <p:sp>
        <p:nvSpPr>
          <p:cNvPr id="21" name="Text 21"/>
          <p:cNvSpPr/>
          <p:nvPr/>
        </p:nvSpPr>
        <p:spPr>
          <a:xfrm>
            <a:off x="4777200" y="3810000"/>
            <a:ext cx="3634240" cy="10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0EAF0"/>
                </a:solidFill>
                <a:latin typeface="Calibri" pitchFamily="34" charset="0"/>
              </a:rPr>
              <a:t>Defines strict schemas for API requests/responses and the AI JSON output — if Gemini response does not match the expected findings shape, it is caught and handled before touching the database.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3"/>
              </a:rPr>
              <a:t>Live Demo 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Docker Compose Environment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46320" y="8229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Docker: React Frontend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1" y="822608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3622431" y="796935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Docker: Ubuntu Target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25146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Steps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01752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3017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Dashboard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331012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http://localhost:3000 — login page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46120" y="301752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94760" y="3017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 Credentials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94760" y="331012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Host: audit-target | Port: 2222 | User: auditor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72200" y="301752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20840" y="3017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Audit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20840" y="331012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'Run Security Scan'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40233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4023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&lt; 10s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" y="431596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Root Login · High: UFW Off · Medium: Password Policy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46120" y="40233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794760" y="4023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Fix Commands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94760" y="431596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remediation e.g. sed command to disable PermitRootLogin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72200" y="40233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720840" y="4023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 Map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20840" y="431596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fix → re-scan → resolved issues move to 'Resolved'</a:t>
            </a:r>
            <a:endParaRPr lang="en-US" sz="95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D308B07-E579-596F-4AA7-F3DAE234C0AA}"/>
              </a:ext>
            </a:extLst>
          </p:cNvPr>
          <p:cNvSpPr txBox="1"/>
          <p:nvPr/>
        </p:nvSpPr>
        <p:spPr>
          <a:xfrm>
            <a:off x="1202788" y="1723292"/>
            <a:ext cx="64219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This Linux server runs within our Docker Compose environment and serves as the target machine for security auditing</a:t>
            </a:r>
          </a:p>
        </p:txBody>
      </p:sp>
    </p:spTree>
    <p:extLst>
      <p:ext uri="{BB962C8B-B14F-4D97-AF65-F5344CB8AC3E}">
        <p14:creationId xmlns:p14="http://schemas.microsoft.com/office/powerpoint/2010/main" val="4177681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2468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Pydantic Schema Enforcement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749040" y="4114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749040" y="4572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365760"/>
            <a:ext cx="4480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411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Receives Request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685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HTTP request hits the FastAPI backend.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95928" y="914400"/>
            <a:ext cx="0" cy="612648"/>
          </a:xfrm>
          <a:prstGeom prst="line">
            <a:avLst/>
          </a:prstGeom>
          <a:noFill/>
          <a:ln w="19050">
            <a:solidFill>
              <a:srgbClr val="02C39A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749040" y="152704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15727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89120" y="1481328"/>
            <a:ext cx="4480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15270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Schema Validation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18013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data is validated — required fields, correct types.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95928" y="2029968"/>
            <a:ext cx="0" cy="612648"/>
          </a:xfrm>
          <a:prstGeom prst="line">
            <a:avLst/>
          </a:prstGeom>
          <a:noFill/>
          <a:ln w="19050">
            <a:solidFill>
              <a:srgbClr val="02C39A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3749040" y="264261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3749040" y="268833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389120" y="2596896"/>
            <a:ext cx="4480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0" y="26426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Ensured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0" y="291693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requests are rejected before processing begins.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995928" y="3145536"/>
            <a:ext cx="0" cy="612648"/>
          </a:xfrm>
          <a:prstGeom prst="line">
            <a:avLst/>
          </a:prstGeom>
          <a:noFill/>
          <a:ln w="19050">
            <a:solidFill>
              <a:srgbClr val="02C39A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3749040" y="375818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3749040" y="380390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389120" y="3712464"/>
            <a:ext cx="4480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0" y="37581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Forwarded to Audit Service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0" y="403250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request moves to the coordinator.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5080573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Establishing SSH Communication Using Paramiko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Paramiko?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19072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6642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Native SSH support directly in Python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221992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671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Connects, executes commands, and collects results automatically — no manual steps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724912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6700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All data travels through a secure SSH channel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227832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1729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and audit data stay protected during transmission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730752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6301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for Linux automation and infrastructure management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63440" y="1234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1719072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4773168" y="17556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Admin submits server credentials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2221992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4773168" y="225856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FastAPI receives the request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2724912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4773168" y="27614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Paramiko creates SSH client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3227832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4773168" y="32644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Authentication is performed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03720" y="1719072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7013448" y="17556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Secure SSH session is established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03720" y="2221992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7013448" y="225856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Security commands execute remotely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03720" y="2724912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7013448" y="27614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Outputs collected &amp; returned to backend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903720" y="3227832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32" name="Text 30"/>
          <p:cNvSpPr/>
          <p:nvPr/>
        </p:nvSpPr>
        <p:spPr>
          <a:xfrm>
            <a:off x="7013448" y="32644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Connection closed safely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3827868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Audit Execution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30352" y="16642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Configuration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201168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login status — unrestricted root access is a critical risk if compromised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10712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🔥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10712" y="16642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Status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10712" y="201168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UFW active/inactive — controls network traffic and blocks unauthorized access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91072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91072" y="16642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Policies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91072" y="201168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Expiration rules, aging settings, and authentication configurations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0352" y="35844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Permissions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" y="393192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World-writable files, incorrect permissions, and unowned files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46120" y="292608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10712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410712" y="35844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File Access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10712" y="393192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on the file storing encrypted password information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26480" y="292608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91072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91072" y="35844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Configuration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91072" y="393192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services and listening ports exposed on the server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check generates output → combined into a comprehensive audit report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814985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Analysis Using Google Gemini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aggregated audit report is sent to Google Gemini, which examines each finding and produces structured security intelligence.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508760" cy="2286000"/>
          </a:xfrm>
          <a:prstGeom prst="roundRect">
            <a:avLst>
              <a:gd name="adj" fmla="val 6061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116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📌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Name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39696" y="1828800"/>
            <a:ext cx="1508760" cy="2286000"/>
          </a:xfrm>
          <a:prstGeom prst="roundRect">
            <a:avLst>
              <a:gd name="adj" fmla="val 6061"/>
            </a:avLst>
          </a:prstGeom>
          <a:solidFill>
            <a:srgbClr val="E07B39"/>
          </a:solidFill>
          <a:ln/>
        </p:spPr>
      </p:sp>
      <p:sp>
        <p:nvSpPr>
          <p:cNvPr id="10" name="Text 8"/>
          <p:cNvSpPr/>
          <p:nvPr/>
        </p:nvSpPr>
        <p:spPr>
          <a:xfrm>
            <a:off x="2139696" y="20116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31136" y="260604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Level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22192" y="1828800"/>
            <a:ext cx="1508760" cy="2286000"/>
          </a:xfrm>
          <a:prstGeom prst="roundRect">
            <a:avLst>
              <a:gd name="adj" fmla="val 6061"/>
            </a:avLst>
          </a:prstGeom>
          <a:solidFill>
            <a:srgbClr val="2C5F9E"/>
          </a:solidFill>
          <a:ln/>
        </p:spPr>
      </p:sp>
      <p:sp>
        <p:nvSpPr>
          <p:cNvPr id="13" name="Text 11"/>
          <p:cNvSpPr/>
          <p:nvPr/>
        </p:nvSpPr>
        <p:spPr>
          <a:xfrm>
            <a:off x="3822192" y="20116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913632" y="260604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Explanation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04688" y="1828800"/>
            <a:ext cx="1508760" cy="2286000"/>
          </a:xfrm>
          <a:prstGeom prst="roundRect">
            <a:avLst>
              <a:gd name="adj" fmla="val 6061"/>
            </a:avLst>
          </a:prstGeom>
          <a:solidFill>
            <a:srgbClr val="8B3E8A"/>
          </a:solidFill>
          <a:ln/>
        </p:spPr>
      </p:sp>
      <p:sp>
        <p:nvSpPr>
          <p:cNvPr id="16" name="Text 14"/>
          <p:cNvSpPr/>
          <p:nvPr/>
        </p:nvSpPr>
        <p:spPr>
          <a:xfrm>
            <a:off x="5504688" y="20116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💥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596128" y="260604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Impact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87184" y="1828800"/>
            <a:ext cx="1508760" cy="2286000"/>
          </a:xfrm>
          <a:prstGeom prst="roundRect">
            <a:avLst>
              <a:gd name="adj" fmla="val 6061"/>
            </a:avLst>
          </a:prstGeom>
          <a:solidFill>
            <a:srgbClr val="2A7A4B"/>
          </a:solidFill>
          <a:ln/>
        </p:spPr>
      </p:sp>
      <p:sp>
        <p:nvSpPr>
          <p:cNvPr id="19" name="Text 17"/>
          <p:cNvSpPr/>
          <p:nvPr/>
        </p:nvSpPr>
        <p:spPr>
          <a:xfrm>
            <a:off x="7187184" y="20116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🛠️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278624" y="260604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Command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2519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E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3251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Root login enabled → Gemini flags the risk, explains why it's insecure, and provides the exact command to disable it.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1948498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Results — What Administrators See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7955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116128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0" y="77724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11680" y="7955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011680" y="116128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03320" y="77724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03320" y="7955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703320" y="116128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94960" y="77724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94960" y="7955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394960" y="116128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86600" y="77724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86600" y="7955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086600" y="116128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1737360"/>
            <a:ext cx="8503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182880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1828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508760" y="1810512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SSH Root Login Enabled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217627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PermitRootLogin is set to 'yes' in /etc/ssh/sshd_config.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63440" y="18288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Full system compromise with a single credential breach.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2788920"/>
            <a:ext cx="8503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288036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880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508760" y="2862072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UFW Firewall Disabled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3227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UFW reports 'inactive' — no packet filtering active.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28803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All ports exposed. Attackers can probe any listening service.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3840480"/>
            <a:ext cx="8503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11480" y="393192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931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508760" y="3913632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Password Aging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42793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PASS_MAX_DAYS set to 99999 in /etc/login.defs.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63440" y="393192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Compromised credentials remain valid indefinitely.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651634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History &amp; Resolution Map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4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229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822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History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1325880"/>
            <a:ext cx="118872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3258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554480" y="1325880"/>
            <a:ext cx="128016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554480" y="13258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834640" y="1325880"/>
            <a:ext cx="86868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834640" y="13258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703320" y="1325880"/>
            <a:ext cx="86868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03320" y="13258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1737360"/>
            <a:ext cx="11887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" y="17373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2024-01-15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554480" y="1737360"/>
            <a:ext cx="1280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554480" y="17373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192.168.1.10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834640" y="1737360"/>
            <a:ext cx="868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834640" y="17373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703320" y="1737360"/>
            <a:ext cx="868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703320" y="17373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65760" y="2194560"/>
            <a:ext cx="118872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5760" y="21945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2024-01-14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554480" y="2194560"/>
            <a:ext cx="128016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554480" y="21945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192.168.1.10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834640" y="2194560"/>
            <a:ext cx="86868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834640" y="21945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703320" y="2194560"/>
            <a:ext cx="86868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703320" y="21945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65760" y="2651760"/>
            <a:ext cx="11887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65760" y="26517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2024-01-10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1554480" y="2651760"/>
            <a:ext cx="1280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554480" y="2651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192.168.1.10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2834640" y="2651760"/>
            <a:ext cx="868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834640" y="26517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3703320" y="2651760"/>
            <a:ext cx="868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703320" y="26517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365760" y="32918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audit is stored in PostgreSQL.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can compare scans over time to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security progress.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572000" y="777240"/>
            <a:ext cx="0" cy="38404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822960"/>
            <a:ext cx="411480" cy="41148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5212080" y="822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 Map</a:t>
            </a:r>
            <a:endParaRPr lang="en-US" sz="1400" dirty="0"/>
          </a:p>
        </p:txBody>
      </p:sp>
      <p:sp>
        <p:nvSpPr>
          <p:cNvPr id="43" name="Shape 39"/>
          <p:cNvSpPr/>
          <p:nvPr/>
        </p:nvSpPr>
        <p:spPr>
          <a:xfrm>
            <a:off x="4709160" y="137160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4" name="Shape 40"/>
          <p:cNvSpPr/>
          <p:nvPr/>
        </p:nvSpPr>
        <p:spPr>
          <a:xfrm>
            <a:off x="4800600" y="146304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4800600" y="1463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4800600" y="182880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Existed before — no longer found in latest scan.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4709160" y="246888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8" name="Shape 44"/>
          <p:cNvSpPr/>
          <p:nvPr/>
        </p:nvSpPr>
        <p:spPr>
          <a:xfrm>
            <a:off x="4800600" y="256032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4800600" y="2560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4800600" y="29260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across multiple audits. Needs urgent attention.</a:t>
            </a:r>
            <a:endParaRPr lang="en-US" sz="1000" dirty="0"/>
          </a:p>
        </p:txBody>
      </p:sp>
      <p:sp>
        <p:nvSpPr>
          <p:cNvPr id="51" name="Shape 47"/>
          <p:cNvSpPr/>
          <p:nvPr/>
        </p:nvSpPr>
        <p:spPr>
          <a:xfrm>
            <a:off x="4709160" y="356616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2" name="Shape 48"/>
          <p:cNvSpPr/>
          <p:nvPr/>
        </p:nvSpPr>
        <p:spPr>
          <a:xfrm>
            <a:off x="4800600" y="365760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4800600" y="3657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54" name="Text 50"/>
          <p:cNvSpPr/>
          <p:nvPr/>
        </p:nvSpPr>
        <p:spPr>
          <a:xfrm>
            <a:off x="4800600" y="40233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Appeared for the first time in this scan.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789644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771902"/>
            <a:ext cx="9144000" cy="1482270"/>
          </a:xfrm>
          <a:prstGeom prst="rect">
            <a:avLst/>
          </a:prstGeom>
          <a:solidFill>
            <a:srgbClr val="1A2E42"/>
          </a:solidFill>
          <a:ln/>
        </p:spPr>
        <p:txBody>
          <a:bodyPr/>
          <a:lstStyle/>
          <a:p>
            <a:br>
              <a:rPr lang="en-IN" dirty="0">
                <a:solidFill>
                  <a:schemeClr val="bg1"/>
                </a:solidFill>
              </a:rPr>
            </a:br>
            <a:endParaRPr lang="en-IN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41732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457200" y="321868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2468880" y="41148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468880" y="44348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617720" y="41148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617720" y="44348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766560" y="41148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766560" y="44348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linux-security-auditor.vercel.app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2455</Words>
  <Application>Microsoft Office PowerPoint</Application>
  <PresentationFormat>On-screen Show (16:9)</PresentationFormat>
  <Paragraphs>467</Paragraphs>
  <Slides>25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MS PGothic</vt:lpstr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Linux Hardening Assistant</dc:title>
  <dc:subject>PptxGenJS Presentation</dc:subject>
  <dc:creator>PptxGenJS</dc:creator>
  <cp:lastModifiedBy>KAMAL SANDEEP A RTC2023BAM013</cp:lastModifiedBy>
  <cp:revision>9</cp:revision>
  <dcterms:created xsi:type="dcterms:W3CDTF">2026-06-12T14:08:02Z</dcterms:created>
  <dcterms:modified xsi:type="dcterms:W3CDTF">2026-06-16T02:41:48Z</dcterms:modified>
</cp:coreProperties>
</file>